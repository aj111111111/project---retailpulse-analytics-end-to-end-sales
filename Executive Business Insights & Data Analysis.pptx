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3932c765-936b-4619-ae6d-d0fe31df642d.fntdata" /><ns0:Relationship Id="rIdFont15" Type="http://schemas.openxmlformats.org/officeDocument/2006/relationships/font" Target="fonts/f7d0878b-4eba-4082-8a00-ee2325233b8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79602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40297"/>
            <a:ext cx="5250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Inter"/>
              </a:rPr>
              <a:t>COMPREHENSIVE STAKEHOLDER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7367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Executive Business Insights &amp; Data Analysis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3302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Exploratory data analysis, performance drivers, geographical distribution, product profitability, and predictive modeling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035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146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146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146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2385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2385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3238500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Executive Summary &amp;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Multi-year sales data reveals exceptional growth momentum and clear product profitability drivers.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623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Growth 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8622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Substantial scaling from 2013 to 2014, with revenue more than tripling across core markets.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623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Target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8622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Government and Small Business sectors dominate total sales volume and profitability.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623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Product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8622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Paseo leads product profitability by a wide margin across all international territories.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5166"/>
            <a:ext cx="5334000" cy="2836366"/>
          </a:xfrm>
          <a:prstGeom prst="roundRect">
            <a:avLst>
              <a:gd name="adj" fmla="val 40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25166"/>
            <a:ext cx="5334000" cy="2836366"/>
          </a:xfrm>
          <a:prstGeom prst="roundRect">
            <a:avLst>
              <a:gd name="adj" fmla="val 40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199483"/>
            <a:ext cx="47053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199483"/>
            <a:ext cx="47053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49016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49016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Annual &amp; Monthly Performance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Analyzing chronological sales expansion and seasonal buying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77641"/>
            <a:ext cx="4800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Total sales in 2014 expanded significantly, more than tripling the previous year's annual revenue and reflecting robust market penetration.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56" y="4351883"/>
            <a:ext cx="5576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3x+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277641"/>
            <a:ext cx="4800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Sales peak dramatically during October and December, indicating strong year-end enterprise buying cycles and holiday retail effects.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956" y="4351883"/>
            <a:ext cx="5576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6A34A"/>
                </a:solidFill>
                <a:latin typeface="Inter"/>
              </a:rPr>
              <a:t>Oct &amp; Dec Surge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2839491"/>
            <a:ext cx="253781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2013 vs 2014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162" y="4723358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Annual revenue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2839491"/>
            <a:ext cx="211276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Seasonal Peaks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962" y="4723358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Highest volume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67012"/>
            <a:ext cx="5334000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925" y="3886200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925" y="4419600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3852862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2725" y="4386262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925" y="3886200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6250" y="3514725"/>
            <a:ext cx="1343025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925" y="4419600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3900" y="4048125"/>
            <a:ext cx="1095375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2725" y="3852862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77450" y="3481387"/>
            <a:ext cx="1190625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2725" y="4386262"/>
            <a:ext cx="4705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82225" y="4014787"/>
            <a:ext cx="108585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34600" y="4548187"/>
            <a:ext cx="1133475" cy="25717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Segment &amp; Product Profitability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Identifying core revenue drivers across customer segments and product tiers.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114675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Top Customer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081337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Product Profitability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514725"/>
            <a:ext cx="48006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Government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048125"/>
            <a:ext cx="48006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Small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581525"/>
            <a:ext cx="5881687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Enterprise / Others</a:t>
            </a:r>
            <a:r>
              <a:rPr b="1" sz="1275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125" i="0" u="none">
                <a:solidFill>
                  <a:srgbClr val="64748B"/>
                </a:solidFill>
                <a:latin typeface="Inter"/>
              </a:rPr>
              <a:t>Niche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481387"/>
            <a:ext cx="48006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Paseo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4014787"/>
            <a:ext cx="48006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VTT &amp; Velo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4548187"/>
            <a:ext cx="48006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Carretera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0550" y="3552825"/>
            <a:ext cx="1209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Inter"/>
              </a:rPr>
              <a:t>Primary 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8200" y="4086225"/>
            <a:ext cx="962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High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0" y="3519487"/>
            <a:ext cx="1057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Inter"/>
              </a:rPr>
              <a:t>Highest 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525" y="4052887"/>
            <a:ext cx="952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Strong Tiers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8900" y="4586287"/>
            <a:ext cx="10001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F4444"/>
                </a:solidFill>
                <a:latin typeface="Inter"/>
              </a:rPr>
              <a:t>Lowest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57562"/>
            <a:ext cx="204221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42319" y="3357562"/>
            <a:ext cx="204221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5039" y="3357562"/>
            <a:ext cx="204221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07758" y="3357562"/>
            <a:ext cx="204221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40478" y="3357562"/>
            <a:ext cx="204221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Geographic Market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Global presence remains well-balanced across core international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042" y="3595687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78" y="3871912"/>
            <a:ext cx="19574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Inter"/>
              </a:rPr>
              <a:t>$25.0M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78" y="4138612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Top performer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5761" y="3595687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4698" y="3871912"/>
            <a:ext cx="19574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$24.8M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4698" y="4138612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Balanced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8481" y="3595687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France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7417" y="3871912"/>
            <a:ext cx="19574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$24.2M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7417" y="4138612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Balanced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1200" y="3595687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Germany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0137" y="3871912"/>
            <a:ext cx="19574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$23.5M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137" y="4138612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3920" y="3595687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Mexico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856" y="3871912"/>
            <a:ext cx="195746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11D48"/>
                </a:solidFill>
                <a:latin typeface="Inter"/>
              </a:rPr>
              <a:t>$21.0M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856" y="4138612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Growth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5694"/>
            <a:ext cx="5334000" cy="1535310"/>
          </a:xfrm>
          <a:prstGeom prst="roundRect">
            <a:avLst>
              <a:gd name="adj" fmla="val 7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3804"/>
            <a:ext cx="53340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2975" y="3490019"/>
            <a:ext cx="8763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82250" y="3368129"/>
            <a:ext cx="885825" cy="2667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Predictive Modeling &amp; ML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191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Evaluating machine learning algorithms to forecast sales behavior and assess drivers.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09119"/>
            <a:ext cx="48006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Struggled slightly with non-linear curves and outlier volatility, providing a standard baseline for performance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787229"/>
            <a:ext cx="48006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Successfully captured complex tree-like interactions between units sold, pricing tiers, and product segments without time-leakage.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09069"/>
            <a:ext cx="32629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Linear Regression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7275" y="3528119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R² ~0.75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387179"/>
            <a:ext cx="26503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Random Forest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96550" y="3406229"/>
            <a:ext cx="752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R² ~0.98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84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052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720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705100"/>
            <a:ext cx="313729" cy="342900"/>
          </a:xfrm>
          <a:prstGeom prst="roundRect">
            <a:avLst>
              <a:gd name="adj" fmla="val 2428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771900"/>
            <a:ext cx="339774" cy="342900"/>
          </a:xfrm>
          <a:prstGeom prst="roundRect">
            <a:avLst>
              <a:gd name="adj" fmla="val 2242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838700"/>
            <a:ext cx="300483" cy="342900"/>
          </a:xfrm>
          <a:prstGeom prst="roundRect">
            <a:avLst>
              <a:gd name="adj" fmla="val 25359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4097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Inter"/>
              </a:rPr>
              <a:t>Strategic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954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Actionable steps for stakeholders to optimize resource allocation and scale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705100"/>
            <a:ext cx="59947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3854" y="2676525"/>
            <a:ext cx="1012567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Inter"/>
              </a:rPr>
              <a:t>Prioritize Marketing Budgets toward high-margin products like Paseo and high-volume sectors like Government and Small Business.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771900"/>
            <a:ext cx="625524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9899" y="3743325"/>
            <a:ext cx="10099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Inter"/>
              </a:rPr>
              <a:t>Capitalize on Q4 Seasonality by preparing inventory and targeted promotions well ahead of the October–December surge.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838700"/>
            <a:ext cx="5862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0608" y="4810125"/>
            <a:ext cx="1013891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Inter"/>
              </a:rPr>
              <a:t>Deploy Advanced Predictive Analytics (Random Forest models) for future revenue forecasting and risk mitigation across regional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